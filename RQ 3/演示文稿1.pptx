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3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3043DD4-EBEE-4996-92FF-B3350957C014}" v="1" dt="2025-10-30T14:53:43.3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ngwu Zhao" userId="7ab55800-39bb-4513-b69c-0cbedd9f6789" providerId="ADAL" clId="{2312F13E-0666-45E1-B26D-FE5A29FEB6C7}"/>
    <pc:docChg chg="addSld modSld">
      <pc:chgData name="Gengwu Zhao" userId="7ab55800-39bb-4513-b69c-0cbedd9f6789" providerId="ADAL" clId="{2312F13E-0666-45E1-B26D-FE5A29FEB6C7}" dt="2025-10-30T15:07:43.296" v="2" actId="2164"/>
      <pc:docMkLst>
        <pc:docMk/>
      </pc:docMkLst>
      <pc:sldChg chg="modSp add mod">
        <pc:chgData name="Gengwu Zhao" userId="7ab55800-39bb-4513-b69c-0cbedd9f6789" providerId="ADAL" clId="{2312F13E-0666-45E1-B26D-FE5A29FEB6C7}" dt="2025-10-30T15:07:43.296" v="2" actId="2164"/>
        <pc:sldMkLst>
          <pc:docMk/>
          <pc:sldMk cId="2011527821" sldId="3993"/>
        </pc:sldMkLst>
        <pc:graphicFrameChg chg="modGraphic">
          <ac:chgData name="Gengwu Zhao" userId="7ab55800-39bb-4513-b69c-0cbedd9f6789" providerId="ADAL" clId="{2312F13E-0666-45E1-B26D-FE5A29FEB6C7}" dt="2025-10-30T15:07:43.296" v="2" actId="2164"/>
          <ac:graphicFrameMkLst>
            <pc:docMk/>
            <pc:sldMk cId="2011527821" sldId="3993"/>
            <ac:graphicFrameMk id="5" creationId="{002897E5-743C-8638-43B7-5AFECC9FABC7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tevens0-my.sharepoint.com/personal/gzhao9_stevens_edu/Documents/result.csv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tevens0-my.sharepoint.com/personal/gzhao9_stevens_edu/Documents/result.csv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tevens0-my.sharepoint.com/personal/gzhao9_stevens_edu/Documents/result.csv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Level 0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# of Mock object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7526</c:v>
                </c:pt>
                <c:pt idx="1">
                  <c:v>9013</c:v>
                </c:pt>
                <c:pt idx="2">
                  <c:v>7269</c:v>
                </c:pt>
                <c:pt idx="3">
                  <c:v>2730</c:v>
                </c:pt>
                <c:pt idx="4">
                  <c:v>1250</c:v>
                </c:pt>
                <c:pt idx="5">
                  <c:v>1598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1D-4153-891E-EEA546E17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67215"/>
        <c:axId val="32270575"/>
      </c:barChart>
      <c:lineChart>
        <c:grouping val="stack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cusum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2659511031604056E-2"/>
                  <c:y val="2.402401266273549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71D-4153-891E-EEA546E17396}"/>
                </c:ext>
              </c:extLst>
            </c:dLbl>
            <c:dLbl>
              <c:idx val="1"/>
              <c:layout>
                <c:manualLayout>
                  <c:x val="2.2659511031604056E-2"/>
                  <c:y val="5.405402849115485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F71D-4153-891E-EEA546E17396}"/>
                </c:ext>
              </c:extLst>
            </c:dLbl>
            <c:dLbl>
              <c:idx val="2"/>
              <c:layout>
                <c:manualLayout>
                  <c:x val="2.5466360533198021E-2"/>
                  <c:y val="7.994841458068398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71D-4153-891E-EEA546E1739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Sheet1!$C$2:$C$7</c:f>
              <c:numCache>
                <c:formatCode>0%</c:formatCode>
                <c:ptCount val="6"/>
                <c:pt idx="0">
                  <c:v>0.25610835091540191</c:v>
                </c:pt>
                <c:pt idx="1">
                  <c:v>0.56281902946981555</c:v>
                </c:pt>
                <c:pt idx="2">
                  <c:v>0.8101817191860069</c:v>
                </c:pt>
                <c:pt idx="3">
                  <c:v>0.90308310079629761</c:v>
                </c:pt>
                <c:pt idx="4">
                  <c:v>0.94562036343837197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71D-4153-891E-EEA546E173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257615"/>
        <c:axId val="32243695"/>
      </c:lineChart>
      <c:catAx>
        <c:axId val="3226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70575"/>
        <c:crosses val="autoZero"/>
        <c:auto val="1"/>
        <c:lblAlgn val="ctr"/>
        <c:lblOffset val="100"/>
        <c:noMultiLvlLbl val="0"/>
      </c:catAx>
      <c:valAx>
        <c:axId val="322705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67215"/>
        <c:crosses val="autoZero"/>
        <c:crossBetween val="between"/>
      </c:valAx>
      <c:valAx>
        <c:axId val="32243695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57615"/>
        <c:crosses val="max"/>
        <c:crossBetween val="between"/>
        <c:majorUnit val="0.2"/>
      </c:valAx>
      <c:catAx>
        <c:axId val="322576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2436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Level 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Sheet2!$B$1</c:f>
              <c:strCache>
                <c:ptCount val="1"/>
                <c:pt idx="0">
                  <c:v># of Mock object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Sheet2!$B$2:$B$7</c:f>
              <c:numCache>
                <c:formatCode>General</c:formatCode>
                <c:ptCount val="6"/>
                <c:pt idx="0">
                  <c:v>5032</c:v>
                </c:pt>
                <c:pt idx="1">
                  <c:v>1116</c:v>
                </c:pt>
                <c:pt idx="2">
                  <c:v>338</c:v>
                </c:pt>
                <c:pt idx="3">
                  <c:v>127</c:v>
                </c:pt>
                <c:pt idx="4">
                  <c:v>56</c:v>
                </c:pt>
                <c:pt idx="5">
                  <c:v>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F22-48A2-959C-89618AAB9F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67215"/>
        <c:axId val="32270575"/>
      </c:barChart>
      <c:lineChart>
        <c:grouping val="stacked"/>
        <c:varyColors val="0"/>
        <c:ser>
          <c:idx val="1"/>
          <c:order val="1"/>
          <c:tx>
            <c:strRef>
              <c:f>Sheet2!$C$1</c:f>
              <c:strCache>
                <c:ptCount val="1"/>
                <c:pt idx="0">
                  <c:v>cusum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0274299344066764E-2"/>
                  <c:y val="7.222222222222227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3F22-48A2-959C-89618AAB9F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Sheet2!$A$2:$A$7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Sheet2!$C$2:$C$7</c:f>
              <c:numCache>
                <c:formatCode>0%</c:formatCode>
                <c:ptCount val="6"/>
                <c:pt idx="0">
                  <c:v>0.7469199940626392</c:v>
                </c:pt>
                <c:pt idx="1">
                  <c:v>0.91257236158527533</c:v>
                </c:pt>
                <c:pt idx="2">
                  <c:v>0.96274306070951465</c:v>
                </c:pt>
                <c:pt idx="3">
                  <c:v>0.98159418138637378</c:v>
                </c:pt>
                <c:pt idx="4">
                  <c:v>0.98990648656672109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F22-48A2-959C-89618AAB9F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257615"/>
        <c:axId val="32243695"/>
      </c:lineChart>
      <c:catAx>
        <c:axId val="3226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70575"/>
        <c:crosses val="autoZero"/>
        <c:auto val="1"/>
        <c:lblAlgn val="ctr"/>
        <c:lblOffset val="100"/>
        <c:noMultiLvlLbl val="0"/>
      </c:catAx>
      <c:valAx>
        <c:axId val="322705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67215"/>
        <c:crosses val="autoZero"/>
        <c:crossBetween val="between"/>
      </c:valAx>
      <c:valAx>
        <c:axId val="32243695"/>
        <c:scaling>
          <c:orientation val="minMax"/>
          <c:max val="1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57615"/>
        <c:crosses val="max"/>
        <c:crossBetween val="between"/>
        <c:majorUnit val="0.2"/>
      </c:valAx>
      <c:catAx>
        <c:axId val="322576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2436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Level 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# of Mock object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Sheet3!$B$2:$B$7</c:f>
              <c:numCache>
                <c:formatCode>General</c:formatCode>
                <c:ptCount val="6"/>
                <c:pt idx="0">
                  <c:v>1608</c:v>
                </c:pt>
                <c:pt idx="1">
                  <c:v>1900</c:v>
                </c:pt>
                <c:pt idx="2">
                  <c:v>762</c:v>
                </c:pt>
                <c:pt idx="3">
                  <c:v>324</c:v>
                </c:pt>
                <c:pt idx="4">
                  <c:v>109</c:v>
                </c:pt>
                <c:pt idx="5">
                  <c:v>119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BA-4595-B7B2-6D7E264E1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32267215"/>
        <c:axId val="32270575"/>
      </c:barChart>
      <c:lineChart>
        <c:grouping val="stacked"/>
        <c:varyColors val="0"/>
        <c:ser>
          <c:idx val="1"/>
          <c:order val="1"/>
          <c:tx>
            <c:strRef>
              <c:f>Sheet3!$C$1</c:f>
              <c:strCache>
                <c:ptCount val="1"/>
                <c:pt idx="0">
                  <c:v>cusum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2.0274301247944729E-2"/>
                  <c:y val="2.777777777777777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5BA-4595-B7B2-6D7E264E12EC}"/>
                </c:ext>
              </c:extLst>
            </c:dLbl>
            <c:dLbl>
              <c:idx val="1"/>
              <c:layout>
                <c:manualLayout>
                  <c:x val="2.7429936982513441E-2"/>
                  <c:y val="8.888888888888883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5BA-4595-B7B2-6D7E264E12E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Sheet3!$A$2:$A$7</c:f>
              <c:strCache>
                <c:ptCount val="6"/>
                <c:pt idx="0">
                  <c:v>[0,2]</c:v>
                </c:pt>
                <c:pt idx="1">
                  <c:v>(2,4]</c:v>
                </c:pt>
                <c:pt idx="2">
                  <c:v>(4,6]</c:v>
                </c:pt>
                <c:pt idx="3">
                  <c:v>(6,8]</c:v>
                </c:pt>
                <c:pt idx="4">
                  <c:v>(8,10]</c:v>
                </c:pt>
                <c:pt idx="5">
                  <c:v>&gt;10</c:v>
                </c:pt>
              </c:strCache>
            </c:strRef>
          </c:cat>
          <c:val>
            <c:numRef>
              <c:f>Sheet3!$C$2:$C$7</c:f>
              <c:numCache>
                <c:formatCode>0%</c:formatCode>
                <c:ptCount val="6"/>
                <c:pt idx="0">
                  <c:v>0.33347158855246783</c:v>
                </c:pt>
                <c:pt idx="1">
                  <c:v>0.72749896308585649</c:v>
                </c:pt>
                <c:pt idx="2">
                  <c:v>0.88552467855661554</c:v>
                </c:pt>
                <c:pt idx="3">
                  <c:v>0.95271671505599331</c:v>
                </c:pt>
                <c:pt idx="4">
                  <c:v>0.97532144338448779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5BA-4595-B7B2-6D7E264E12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32257615"/>
        <c:axId val="32243695"/>
      </c:lineChart>
      <c:catAx>
        <c:axId val="3226721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70575"/>
        <c:crosses val="autoZero"/>
        <c:auto val="1"/>
        <c:lblAlgn val="ctr"/>
        <c:lblOffset val="100"/>
        <c:noMultiLvlLbl val="0"/>
      </c:catAx>
      <c:valAx>
        <c:axId val="32270575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67215"/>
        <c:crosses val="autoZero"/>
        <c:crossBetween val="between"/>
      </c:valAx>
      <c:valAx>
        <c:axId val="32243695"/>
        <c:scaling>
          <c:orientation val="minMax"/>
          <c:max val="1"/>
          <c:min val="0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2257615"/>
        <c:crosses val="max"/>
        <c:crossBetween val="between"/>
        <c:majorUnit val="0.4"/>
      </c:valAx>
      <c:catAx>
        <c:axId val="3225761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22436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055AB1-28DA-DA97-44F6-C21EEB069B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929B84C-385E-F5D4-5321-0E46194F0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35F8D7-6399-B260-C0EA-73B815B79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3CD43-7DAA-1345-76AC-51ED160A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E54C0-DCB2-681E-B12D-D4919B5B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0322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3AEB26-D12F-D24D-B08E-F438EA580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8928B-7EE2-3425-5423-D12EBD023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0B00F34-F0D2-2DD2-0F66-A1EF22829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77A8C62-75A1-7939-D562-0E0B4660B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622F24-3EF9-B928-FA49-A584809D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1332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BD4642-D1A4-07A5-2F3B-0C94B0C51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2E4DC35-82B3-231B-45B0-BC93750CD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AAAD8CF-DD21-8C37-5637-F6BCF9BE2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F998DF-C258-5BCA-A9BF-518AACAE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8BC41C-6ED7-8D09-8D45-4031F5339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17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A9968-B958-AE6D-CAC1-E58FF4DDC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FFC7D4-B739-EF10-0BE0-87A0EA30C0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BC72198-28D4-0981-1675-EEE527027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4DD07C1-0395-ED66-5820-A83F3460E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A2AFB9-59E6-9F31-CBB8-2EC1F812E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00B107-BE06-FF17-0D0F-0714473F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237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BA6217-3F47-EC5B-CB75-24DCC0B66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59014B-994B-9559-835E-5DE66E286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C527DA-5FE9-6501-AAE3-736C8CC574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B5BC085-6413-7BBC-77DF-11A31FB410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3A082C-B288-8524-F514-6D24518F33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3F39A84-A037-3353-CF61-3170D8F5A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181FF95-D273-6A00-82B5-A07713FB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9C15D1-DAF3-A132-36E6-C6DA1ADFA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5301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40AAD4-F037-8787-4A59-E3D2B1041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2F2078-9261-38BE-6BC3-806C87154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3A7DFB-030C-D5DA-9EE7-175D07DFD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25C94E7-2AE2-5DAC-15E1-3A79A5A11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91249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667D40D-8E77-BE9A-9E64-880F5DCEF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3A7A254-1E5A-DEAE-7830-61AB0D459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D32A74-06A8-17D7-A910-3BC1DC5B8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513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7A1944-FBC8-A67A-9DBA-0906483B0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185C18-E6E1-4324-2120-7BD04B5848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CC0159-9C98-81B2-C970-32E578ADDD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B82FF66-B617-D6A9-1600-1067FD6D8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4E1F4-479C-7E17-3474-9800B7C4E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1AB3523-C31C-21BF-8F0A-92EF1FDC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765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AC568-3926-BCB9-1DA5-9D337033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B0C06A-9132-381A-27F9-6EF9D13AC68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4CD9AA4-BEB9-6B22-07CE-C8438057C5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DD8068-E1D9-BDAC-77B5-C9EC49E46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02CD802-F453-5F3F-000B-7D33E626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66F602-E1D6-9700-5A02-7872A6C1A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3978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7484A-67D5-2784-6C57-6519BCCC2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5FF318-94A2-1849-7062-395B2A9431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79F814-0149-8A9C-A6E0-6FAB10A08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013249-7279-57A1-296C-C84D5BF5A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0D3DD7-E8A4-DC11-751E-CA1440EA4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6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9E6DEBF-ADD2-0DEE-EB51-4033F00DDD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DAE7C20-8846-31FF-0079-931F2F831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02A17C-CD75-6A09-CD83-6A72D515A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6C08617-376B-32B5-FC51-A2D822F34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4F4A71-E46A-80F1-F5DA-A9E088E4F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260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F907F06-D602-4071-33E4-C472B24F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4769" y="365125"/>
            <a:ext cx="10710619" cy="1325563"/>
          </a:xfrm>
        </p:spPr>
        <p:txBody>
          <a:bodyPr/>
          <a:lstStyle/>
          <a:p>
            <a:r>
              <a:rPr lang="en-US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91BE1E-C7BA-1F2A-DB51-F2BDF8885EB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228600" indent="-228600">
              <a:defRPr/>
            </a:lvl1pPr>
            <a:lvl2pPr marL="502920" indent="-228589">
              <a:buSzPct val="100000"/>
              <a:buFont typeface="System Font Regular"/>
              <a:buChar char="-"/>
              <a:defRPr/>
            </a:lvl2pPr>
            <a:lvl3pPr marL="777240" indent="-228589">
              <a:buSzPct val="100000"/>
              <a:buFont typeface="System Font Regular"/>
              <a:buChar char="-"/>
              <a:defRPr/>
            </a:lvl3pPr>
            <a:lvl4pPr marL="1005840" indent="-228589">
              <a:buSzPct val="100000"/>
              <a:buFont typeface="System Font Regular"/>
              <a:buChar char="-"/>
              <a:defRPr/>
            </a:lvl4pPr>
            <a:lvl5pPr marL="1280160" indent="-228589">
              <a:buSzPct val="100000"/>
              <a:buFont typeface="System Font Regular"/>
              <a:buChar char="-"/>
              <a:defRPr/>
            </a:lvl5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9B86B0-6C6C-3FCD-0D64-D84FBF647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67CD5E-26CF-4249-8540-BB1D07FD42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036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0984303-B25C-EC54-C052-4543B6E52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CA3425-4884-6069-2E69-7964A3A4CA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19F0-A3BF-7811-9FD2-8B8EDF149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5366F-1AF1-466D-8881-08F5C3E15248}" type="datetimeFigureOut">
              <a:rPr lang="zh-CN" altLang="en-US" smtClean="0"/>
              <a:t>2025/10/30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EBCD83-C0E9-5431-5698-76A08EE88B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75AE0-D1D2-BB7E-7E8E-987EB2B939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A6C08F-3C71-4595-810B-C5C239508FF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198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4ADC5-549C-EF8A-1750-7E69F72AF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Mock Usage Maturity Model (MUMM)</a:t>
            </a:r>
            <a:endParaRPr lang="zh-CN" altLang="en-US" dirty="0"/>
          </a:p>
        </p:txBody>
      </p:sp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002897E5-743C-8638-43B7-5AFECC9FA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8940846"/>
              </p:ext>
            </p:extLst>
          </p:nvPr>
        </p:nvGraphicFramePr>
        <p:xfrm>
          <a:off x="838200" y="1825625"/>
          <a:ext cx="1051559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691">
                  <a:extLst>
                    <a:ext uri="{9D8B030D-6E8A-4147-A177-3AD203B41FA5}">
                      <a16:colId xmlns:a16="http://schemas.microsoft.com/office/drawing/2014/main" val="757497050"/>
                    </a:ext>
                  </a:extLst>
                </a:gridCol>
                <a:gridCol w="2429164">
                  <a:extLst>
                    <a:ext uri="{9D8B030D-6E8A-4147-A177-3AD203B41FA5}">
                      <a16:colId xmlns:a16="http://schemas.microsoft.com/office/drawing/2014/main" val="2577891463"/>
                    </a:ext>
                  </a:extLst>
                </a:gridCol>
                <a:gridCol w="6818742">
                  <a:extLst>
                    <a:ext uri="{9D8B030D-6E8A-4147-A177-3AD203B41FA5}">
                      <a16:colId xmlns:a16="http://schemas.microsoft.com/office/drawing/2014/main" val="36496229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3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Level 0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3,770 (56.2%)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All creation/stubbing in the test method itself.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528283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Level 1</a:t>
                      </a:r>
                      <a:endParaRPr lang="en-US" sz="240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US" altLang="zh-CN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9180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Level 2</a:t>
                      </a:r>
                      <a:endParaRPr lang="en-US" sz="2400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altLang="zh-CN" sz="240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2,464 (36.7%)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fontAlgn="base">
                        <a:buNone/>
                      </a:pP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Global mock variable, with stubs spread across test methods, 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Courier New" panose="02070309020205020404" pitchFamily="49" charset="0"/>
                        </a:rPr>
                        <a:t>@Before</a:t>
                      </a:r>
                      <a:r>
                        <a:rPr lang="en-US" sz="2400" dirty="0">
                          <a:solidFill>
                            <a:srgbClr val="000000"/>
                          </a:solidFill>
                          <a:effectLst/>
                          <a:latin typeface="Aptos" panose="020B0004020202020204" pitchFamily="34" charset="0"/>
                        </a:rPr>
                        <a:t>, and helpers.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74207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152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图表 15">
            <a:extLst>
              <a:ext uri="{FF2B5EF4-FFF2-40B4-BE49-F238E27FC236}">
                <a16:creationId xmlns:a16="http://schemas.microsoft.com/office/drawing/2014/main" id="{72C97E38-3CD2-4725-AC07-3D1151A842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9301281"/>
              </p:ext>
            </p:extLst>
          </p:nvPr>
        </p:nvGraphicFramePr>
        <p:xfrm>
          <a:off x="771526" y="0"/>
          <a:ext cx="1064895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6784FB67-5C45-44A7-981F-8185F890111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73889569"/>
              </p:ext>
            </p:extLst>
          </p:nvPr>
        </p:nvGraphicFramePr>
        <p:xfrm>
          <a:off x="771525" y="2286000"/>
          <a:ext cx="1064895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93D3A296-61EB-CAD4-CCDE-78D618228D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28757461"/>
              </p:ext>
            </p:extLst>
          </p:nvPr>
        </p:nvGraphicFramePr>
        <p:xfrm>
          <a:off x="771525" y="4572000"/>
          <a:ext cx="10648949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751279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63</Words>
  <Application>Microsoft Office PowerPoint</Application>
  <PresentationFormat>宽屏</PresentationFormat>
  <Paragraphs>20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System Font Regular</vt:lpstr>
      <vt:lpstr>等线</vt:lpstr>
      <vt:lpstr>等线 Light</vt:lpstr>
      <vt:lpstr>Aptos</vt:lpstr>
      <vt:lpstr>Arial</vt:lpstr>
      <vt:lpstr>Courier New</vt:lpstr>
      <vt:lpstr>Office 主题​​</vt:lpstr>
      <vt:lpstr>Mock Usage Maturity Model (MUMM)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Gengwu Zhao</dc:creator>
  <cp:lastModifiedBy>Gengwu Zhao</cp:lastModifiedBy>
  <cp:revision>1</cp:revision>
  <dcterms:created xsi:type="dcterms:W3CDTF">2025-10-29T17:56:08Z</dcterms:created>
  <dcterms:modified xsi:type="dcterms:W3CDTF">2025-10-30T15:07:52Z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2025-10-29T22:25:17Z</vt:lpwstr>
  </property>
  <property fmtid="{D5CDD505-2E9C-101B-9397-08002B2CF9AE}" pid="4" name="MSIP_Label_a73fd474-4f3c-44ed-88fb-5cc4bd2471bf_Method">
    <vt:lpwstr>Standard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f9134081-9187-4b67-a5f7-0a56b11cb86b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10, 3, 0, 1</vt:lpwstr>
  </property>
</Properties>
</file>