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94" r:id="rId2"/>
    <p:sldId id="257" r:id="rId3"/>
    <p:sldId id="258" r:id="rId4"/>
    <p:sldId id="259" r:id="rId5"/>
    <p:sldId id="3999" r:id="rId6"/>
    <p:sldId id="4000" r:id="rId7"/>
    <p:sldId id="4003" r:id="rId8"/>
    <p:sldId id="4001" r:id="rId9"/>
    <p:sldId id="4002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https://stevens0-my.sharepoint.com/personal/gzhao9_stevens_edu/Documents/stats_output.csv.xlsx" TargetMode="External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stats_output!$D$2:$D$243</cx:f>
        <cx:lvl ptCount="242" formatCode="0.00%">
          <cx:pt idx="0">1</cx:pt>
          <cx:pt idx="1">1</cx:pt>
          <cx:pt idx="2">1</cx:pt>
          <cx:pt idx="3">1</cx:pt>
          <cx:pt idx="4">1</cx:pt>
          <cx:pt idx="5">1</cx:pt>
          <cx:pt idx="6">1</cx:pt>
          <cx:pt idx="7">1</cx:pt>
          <cx:pt idx="8">1</cx:pt>
          <cx:pt idx="9">0.9853556485355649</cx:pt>
          <cx:pt idx="10">0.98445595854922274</cx:pt>
          <cx:pt idx="11">0.9726027397260274</cx:pt>
          <cx:pt idx="12">0.96577946768060841</cx:pt>
          <cx:pt idx="13">0.94308943089430897</cx:pt>
          <cx:pt idx="14">0.94117647058823528</cx:pt>
          <cx:pt idx="15">0.94007490636704116</cx:pt>
          <cx:pt idx="16">0.9285714285714286</cx:pt>
          <cx:pt idx="17">0.92057416267942582</cx:pt>
          <cx:pt idx="18">0.91331923890063427</cx:pt>
          <cx:pt idx="19">0.91200174253975164</cx:pt>
          <cx:pt idx="20">0.90666666666666662</cx:pt>
          <cx:pt idx="21">0.89603960396039606</cx:pt>
          <cx:pt idx="22">0.8867924528301887</cx:pt>
          <cx:pt idx="23">0.88157894736842102</cx:pt>
          <cx:pt idx="24">0.88102893890675238</cx:pt>
          <cx:pt idx="25">0.875</cx:pt>
          <cx:pt idx="26">0.86324786324786329</cx:pt>
          <cx:pt idx="27">0.8571428571428571</cx:pt>
          <cx:pt idx="28">0.8571428571428571</cx:pt>
          <cx:pt idx="29">0.85676741130091982</cx:pt>
          <cx:pt idx="30">0.85567010309278346</cx:pt>
          <cx:pt idx="31">0.84210526315789469</cx:pt>
          <cx:pt idx="32">0.83050847457627119</cx:pt>
          <cx:pt idx="33">0.83029612756264237</cx:pt>
          <cx:pt idx="34">0.82992700729927005</cx:pt>
          <cx:pt idx="35">0.82758620689655171</cx:pt>
          <cx:pt idx="36">0.82297991592713682</cx:pt>
          <cx:pt idx="37">0.81609195402298851</cx:pt>
          <cx:pt idx="38">0.81333333333333335</cx:pt>
          <cx:pt idx="39">0.81027667984189722</cx:pt>
          <cx:pt idx="40">0.78865979381443296</cx:pt>
          <cx:pt idx="41">0.78205128205128205</cx:pt>
          <cx:pt idx="42">0.77852348993288589</cx:pt>
          <cx:pt idx="43">0.77642585551330801</cx:pt>
          <cx:pt idx="44">0.77622377622377625</cx:pt>
          <cx:pt idx="45">0.77272727272727271</cx:pt>
          <cx:pt idx="46">0.77133188300700994</cx:pt>
          <cx:pt idx="47">0.76433566433566436</cx:pt>
          <cx:pt idx="48">0.75373134328358204</cx:pt>
          <cx:pt idx="49">0.75355969331872952</cx:pt>
          <cx:pt idx="50">0.75</cx:pt>
          <cx:pt idx="51">0.74713656387665195</cx:pt>
          <cx:pt idx="52">0.73684210526315785</cx:pt>
          <cx:pt idx="53">0.73245614035087714</cx:pt>
          <cx:pt idx="54">0.7142857142857143</cx:pt>
          <cx:pt idx="55">0.70344827586206893</cx:pt>
          <cx:pt idx="56">0.70088888888888889</cx:pt>
          <cx:pt idx="57">0.69999999999999996</cx:pt>
          <cx:pt idx="58">0.69696969696969702</cx:pt>
          <cx:pt idx="59">0.69047619047619047</cx:pt>
          <cx:pt idx="60">0.6619718309859155</cx:pt>
          <cx:pt idx="61">0.65465303926842389</cx:pt>
          <cx:pt idx="62">0.65372168284789645</cx:pt>
          <cx:pt idx="63">0.64565217391304353</cx:pt>
          <cx:pt idx="64">0.64516129032258063</cx:pt>
          <cx:pt idx="65">0.64197530864197527</cx:pt>
          <cx:pt idx="66">0.64126984126984132</cx:pt>
          <cx:pt idx="67">0.63936781609195403</cx:pt>
          <cx:pt idx="68">0.62244897959183676</cx:pt>
          <cx:pt idx="69">0.61309523809523814</cx:pt>
          <cx:pt idx="70">0.61224489795918369</cx:pt>
          <cx:pt idx="71">0.60910973084886133</cx:pt>
          <cx:pt idx="72">0.60095579450418157</cx:pt>
          <cx:pt idx="73">0.60064935064935066</cx:pt>
          <cx:pt idx="74">0.59999999999999998</cx:pt>
          <cx:pt idx="75">0.59154929577464788</cx:pt>
          <cx:pt idx="76">0.57471264367816088</cx:pt>
          <cx:pt idx="77">0.57152924594785059</cx:pt>
          <cx:pt idx="78">0.5714285714285714</cx:pt>
          <cx:pt idx="79">0.55782312925170063</cx:pt>
          <cx:pt idx="80">0.55769230769230771</cx:pt>
          <cx:pt idx="81">0.53097345132743368</cx:pt>
          <cx:pt idx="82">0.52380952380952384</cx:pt>
          <cx:pt idx="83">0.5171102661596958</cx:pt>
          <cx:pt idx="84">0.47619047619047616</cx:pt>
          <cx:pt idx="85">0.46153846153846156</cx:pt>
          <cx:pt idx="86">0.45098039215686275</cx:pt>
          <cx:pt idx="87">0.37741686001546793</cx:pt>
          <cx:pt idx="88">0.31818181818181818</cx:pt>
          <cx:pt idx="89">0.31168831168831168</cx:pt>
          <cx:pt idx="90">0.30666666666666664</cx:pt>
          <cx:pt idx="91">0.28155339805825241</cx:pt>
          <cx:pt idx="92">0.26623376623376621</cx:pt>
          <cx:pt idx="93">0.2608695652173913</cx:pt>
          <cx:pt idx="94">0.16346153846153846</cx:pt>
          <cx:pt idx="95">0</cx:pt>
          <cx:pt idx="96">0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 sz="1600"/>
            </a:pPr>
            <a:r>
              <a:rPr lang="en-US" altLang="zh-CN" sz="1600"/>
              <a:t>Distribution of Projects at Level 0</a:t>
            </a:r>
            <a:endParaRPr lang="zh-CN" altLang="en-US" sz="16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  <a:ea typeface="等线" panose="02010600030101010101" pitchFamily="2" charset="-122"/>
            </a:endParaRPr>
          </a:p>
        </cx:rich>
      </cx:tx>
    </cx:title>
    <cx:plotArea>
      <cx:plotAreaRegion>
        <cx:series layoutId="clusteredColumn" uniqueId="{5FB3FD78-91CC-4954-8B9B-64FEEE8F3EDB}">
          <cx:tx>
            <cx:txData>
              <cx:f>stats_output!$D$1</cx:f>
              <cx:v>% level 0</cx:v>
            </cx:txData>
          </cx:tx>
          <cx:dataLabels>
            <cx:txPr>
              <a:bodyPr vertOverflow="overflow" horzOverflow="overflow" wrap="square" lIns="0" tIns="0" rIns="0" bIns="0"/>
              <a:lstStyle/>
              <a:p>
                <a:pPr algn="ctr" rtl="0">
                  <a:defRPr sz="1600" b="0" i="0">
                    <a:solidFill>
                      <a:srgbClr val="595959"/>
                    </a:solidFill>
                    <a:latin typeface="Aptos Narrow" panose="020B0004020202020204" pitchFamily="34" charset="0"/>
                    <a:ea typeface="Aptos Narrow" panose="020B0004020202020204" pitchFamily="34" charset="0"/>
                    <a:cs typeface="Aptos Narrow" panose="020B0004020202020204" pitchFamily="34" charset="0"/>
                  </a:defRPr>
                </a:pPr>
                <a:endParaRPr lang="zh-CN" altLang="en-US" sz="1600"/>
              </a:p>
            </cx:txPr>
            <cx:visibility seriesName="0" categoryName="0" value="1"/>
          </cx:dataLabels>
          <cx:dataId val="0"/>
          <cx:layoutPr>
            <cx:binning intervalClosed="r">
              <cx:binSize val="0.20000000000000001"/>
            </cx:binning>
          </cx:layoutPr>
        </cx:series>
      </cx:plotAreaRegion>
      <cx:axis id="0">
        <cx:catScaling gapWidth="1.38999999"/>
        <cx:title>
          <cx:tx>
            <cx:rich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1600"/>
                </a:pPr>
                <a:r>
                  <a:rPr lang="en-US" altLang="zh-CN" sz="1600"/>
                  <a:t>Percentage Range of Level 0</a:t>
                </a:r>
                <a:endParaRPr lang="zh-CN" altLang="en-US" sz="1600" b="0" i="0" u="none" strike="noStrike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Aptos Narrow" panose="02110004020202020204"/>
                  <a:ea typeface="等线" panose="02010600030101010101" pitchFamily="2" charset="-122"/>
                </a:endParaRPr>
              </a:p>
            </cx:rich>
          </cx:tx>
        </cx:title>
        <cx:tickLabels/>
        <cx:numFmt formatCode="0%" sourceLinked="0"/>
        <cx:txPr>
          <a:bodyPr vertOverflow="overflow" horzOverflow="overflow" wrap="square" lIns="0" tIns="0" rIns="0" bIns="0"/>
          <a:lstStyle/>
          <a:p>
            <a:pPr algn="ctr" rtl="0">
              <a:defRPr sz="1600" b="0" i="0">
                <a:solidFill>
                  <a:srgbClr val="595959"/>
                </a:solidFill>
                <a:latin typeface="Aptos Narrow" panose="020B0004020202020204" pitchFamily="34" charset="0"/>
                <a:ea typeface="Aptos Narrow" panose="020B0004020202020204" pitchFamily="34" charset="0"/>
                <a:cs typeface="Aptos Narrow" panose="020B0004020202020204" pitchFamily="34" charset="0"/>
              </a:defRPr>
            </a:pPr>
            <a:endParaRPr lang="zh-CN" altLang="en-US" sz="1600"/>
          </a:p>
        </cx:txPr>
      </cx:axis>
      <cx:axis id="1" hidden="1">
        <cx:valScaling/>
        <cx:title>
          <cx:tx>
            <cx:rich>
              <a:bodyPr vertOverflow="overflow" horzOverflow="overflow" wrap="square" lIns="0" tIns="0" rIns="0" bIns="0"/>
              <a:lstStyle/>
              <a:p>
                <a:pPr algn="ctr" rtl="0">
                  <a:defRPr sz="1600" b="0" i="0">
                    <a:solidFill>
                      <a:srgbClr val="595959"/>
                    </a:solidFill>
                    <a:latin typeface="Aptos Narrow" panose="020B0004020202020204" pitchFamily="34" charset="0"/>
                    <a:ea typeface="Aptos Narrow" panose="020B0004020202020204" pitchFamily="34" charset="0"/>
                    <a:cs typeface="Aptos Narrow" panose="020B0004020202020204" pitchFamily="34" charset="0"/>
                  </a:defRPr>
                </a:pPr>
                <a:r>
                  <a:rPr lang="en-US" altLang="zh-CN" sz="1600" b="0" i="0" u="none" strike="noStrike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Aptos Narrow" panose="02110004020202020204"/>
                    <a:ea typeface="等线" panose="02010600030101010101" pitchFamily="2" charset="-122"/>
                    <a:cs typeface="Calibri" panose="020F0502020204030204" pitchFamily="34" charset="0"/>
                  </a:rPr>
                  <a:t>Number of Projects</a:t>
                </a:r>
                <a:endParaRPr lang="zh-CN" altLang="en-US" sz="1600"/>
              </a:p>
            </cx:rich>
          </cx:tx>
        </cx:title>
        <cx:tickLabels/>
        <cx:txPr>
          <a:bodyPr vertOverflow="overflow" horzOverflow="overflow" wrap="square" lIns="0" tIns="0" rIns="0" bIns="0"/>
          <a:lstStyle/>
          <a:p>
            <a:pPr algn="ctr" rtl="0">
              <a:defRPr sz="1600" b="0" i="0">
                <a:solidFill>
                  <a:srgbClr val="595959"/>
                </a:solidFill>
                <a:latin typeface="Aptos Narrow" panose="020B0004020202020204" pitchFamily="34" charset="0"/>
                <a:ea typeface="Aptos Narrow" panose="020B0004020202020204" pitchFamily="34" charset="0"/>
                <a:cs typeface="Aptos Narrow" panose="020B0004020202020204" pitchFamily="34" charset="0"/>
              </a:defRPr>
            </a:pPr>
            <a:endParaRPr lang="zh-CN" altLang="en-US" sz="1600"/>
          </a:p>
        </cx:txPr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5568DA-1CE7-FA06-3E6A-3AA04F389B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ED4451F-9DC5-68E5-0E5B-059ECE07DD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716220-6230-5B00-DC67-E106FF573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B4E0-B1EA-4333-92AF-72DD942DC4AA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58BD3B-407E-6B0F-7682-C2FCFB3C7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47A9FF-B6C3-FA70-8F9E-997C231E6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F94FA-F91B-496C-AF7A-ADCC2335C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6030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030845-52C6-1DFF-5076-69DA7115E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07E674-95A8-AAA9-5A30-9614D3A24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4F3141-5102-8CB1-77D4-05A214B0C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B4E0-B1EA-4333-92AF-72DD942DC4AA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7E6F11-0D6C-CE9F-BDDB-FF6603CB0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67C44E-9A1B-FDB6-5150-865F31C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F94FA-F91B-496C-AF7A-ADCC2335C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632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00D610-D217-F901-307F-892A4A17A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A3CE46-6887-EEFF-0B2E-DD13E7E20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41C461-4370-00FF-91D2-D921CF2FD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B4E0-B1EA-4333-92AF-72DD942DC4AA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C93D73-A3FF-ED37-8A48-343D6AE9B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578838-41AA-A820-006C-B8C5F11AF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F94FA-F91B-496C-AF7A-ADCC2335C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3973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DF6274-A943-C7EF-3785-23F65672A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B7A318-D4B7-BA5E-238E-71CA7DE6DE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12530E-70CE-0BA1-4E75-58B24018F4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B1D85B-3D2B-2A32-D9D1-0045F229A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B4E0-B1EA-4333-92AF-72DD942DC4AA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037A4A-133B-0762-B877-F5271A0BB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8CA76C-50CA-6067-2028-93D0BEBA8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F94FA-F91B-496C-AF7A-ADCC2335C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234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90CCDD-9EE5-DF82-48FA-7003F5F90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3FB09D-0F6A-6992-2893-239B966E7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F9C51F-C118-CC7A-5F94-407C8CC90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3B5F0C6-9959-E473-631C-A5A0145231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634D5E4-2BE5-A9BE-9153-7624B1D85A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CF70F9-774B-8B72-7FC8-6F7FEDD48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B4E0-B1EA-4333-92AF-72DD942DC4AA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77F19B6-BF74-BF2D-FEB7-E798D0B45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C774E51-6F38-AD68-A7EF-845B8C81C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F94FA-F91B-496C-AF7A-ADCC2335C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3243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904FB7-8CAA-5A30-058C-3858CE563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2A6A59A-C12C-45CA-55F6-EC15B15BE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B4E0-B1EA-4333-92AF-72DD942DC4AA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AB441BE-0967-1CB0-F898-0A3E6968C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8639A6-16F8-0DF9-F473-1DB35CEF6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F94FA-F91B-496C-AF7A-ADCC2335C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9964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76CC808-1033-42AB-6BC8-705D22332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B4E0-B1EA-4333-92AF-72DD942DC4AA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980776F-4818-D2B2-4885-EB28818C1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066E30-EF62-7389-29AD-B1760EEEC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F94FA-F91B-496C-AF7A-ADCC2335C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16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E9B256-F2FE-6F54-5FB0-2500943FA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8BFA0E-1228-D2D1-6682-B39DC9B7C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A5051B-1FD0-0636-3FA8-6D0394C19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19991D-513F-224B-5AFC-B313408DC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B4E0-B1EA-4333-92AF-72DD942DC4AA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3C9707-23C7-86B9-5B0F-325C994DF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FBC8EA-6B11-6DF5-5C8B-DB9D6B974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F94FA-F91B-496C-AF7A-ADCC2335C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430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DC21B7-1007-A371-4047-7C5BF2082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E752ECE-6DBA-53C2-0EE6-92063AF08B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1824C1-1D6A-477C-AE7F-9AA1A68A3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E03007-4666-ECB5-4BB0-72754E847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B4E0-B1EA-4333-92AF-72DD942DC4AA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1FBF19-0E62-B0AE-9EDC-7E6621FB0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975E83-5FB4-9CDE-5064-35B3E273A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F94FA-F91B-496C-AF7A-ADCC2335C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81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02FC74-D5E1-8B5D-EC52-29F9D1BB6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37D584-4C7E-24B3-EDBB-B06C2F34A9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A1988C-BAFB-8BAC-1864-DAF0F37EA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B4E0-B1EA-4333-92AF-72DD942DC4AA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67937A-64D1-6E6E-9255-C6120843E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929833-617B-6714-5812-49FDD545A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F94FA-F91B-496C-AF7A-ADCC2335C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434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B081E86-068B-E657-BB77-A37E0EFE03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536CBD4-C266-1E32-0C16-9A6211A8DB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FD12A9-F753-5BDB-C6BE-9568D429C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B4E0-B1EA-4333-92AF-72DD942DC4AA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98B37C-8FF5-FE10-C424-0AC258A3E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D2D844-EEB1-8AD2-799B-CF05C08EF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F94FA-F91B-496C-AF7A-ADCC2335C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8656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F907F06-D602-4071-33E4-C472B24F1A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4769" y="365125"/>
            <a:ext cx="10710619" cy="1325563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1BE1E-C7BA-1F2A-DB51-F2BDF8885EB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228600" indent="-228600">
              <a:defRPr/>
            </a:lvl1pPr>
            <a:lvl2pPr marL="502920" indent="-228589">
              <a:buSzPct val="100000"/>
              <a:buFont typeface="System Font Regular"/>
              <a:buChar char="-"/>
              <a:defRPr/>
            </a:lvl2pPr>
            <a:lvl3pPr marL="777240" indent="-228589">
              <a:buSzPct val="100000"/>
              <a:buFont typeface="System Font Regular"/>
              <a:buChar char="-"/>
              <a:defRPr/>
            </a:lvl3pPr>
            <a:lvl4pPr marL="1005840" indent="-228589">
              <a:buSzPct val="100000"/>
              <a:buFont typeface="System Font Regular"/>
              <a:buChar char="-"/>
              <a:defRPr/>
            </a:lvl4pPr>
            <a:lvl5pPr marL="1280160" indent="-228589">
              <a:buSzPct val="100000"/>
              <a:buFont typeface="System Font Regular"/>
              <a:buChar char="-"/>
              <a:defRPr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B86B0-6C6C-3FCD-0D64-D84FBF647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7CD5E-26CF-4249-8540-BB1D07FD42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718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3E56D04-A81F-AB12-F77D-966CAC259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005631-CCAC-EBEB-8723-5DC3B8EFC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2C5C91-2CDB-5B1D-DC64-CDFC4491F1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ADB4E0-B1EA-4333-92AF-72DD942DC4AA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751385-A921-1202-0F3D-B60C6C69AE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A46093-3EE1-94D1-43AB-57297140C2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2F94FA-F91B-496C-AF7A-ADCC2335C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1112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FE2F5C-024C-7CAE-B14C-294C1C339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Preliminary research questions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747548-EAD5-12E9-086E-369C5EF41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altLang="zh-CN" b="1" dirty="0"/>
              <a:t>RQ1:</a:t>
            </a:r>
            <a:r>
              <a:rPr lang="en-US" altLang="zh-CN" dirty="0"/>
              <a:t> How are mock definition levels distributed across Apache projects, and what does this reveal about the structural maturity of mocking practices?</a:t>
            </a:r>
          </a:p>
          <a:p>
            <a:pPr fontAlgn="base"/>
            <a:r>
              <a:rPr lang="en-US" altLang="zh-CN" b="1" dirty="0"/>
              <a:t>RQ2:</a:t>
            </a:r>
            <a:r>
              <a:rPr lang="en-US" altLang="zh-CN" dirty="0"/>
              <a:t> How does the structural maturity of mock usage evolve over time within Apache projects, and what types of temporal trends characterize this evolution (increasing, decreasing, stable, or fluctuating)?</a:t>
            </a:r>
          </a:p>
          <a:p>
            <a:pPr fontAlgn="base"/>
            <a:r>
              <a:rPr lang="en-US" altLang="zh-CN" b="1" dirty="0"/>
              <a:t>RQ3:</a:t>
            </a:r>
            <a:r>
              <a:rPr lang="en-US" altLang="zh-CN" dirty="0"/>
              <a:t> How do different mock pattern levels correlate with the CCTR(complexity of test cases)?</a:t>
            </a:r>
          </a:p>
        </p:txBody>
      </p:sp>
    </p:spTree>
    <p:extLst>
      <p:ext uri="{BB962C8B-B14F-4D97-AF65-F5344CB8AC3E}">
        <p14:creationId xmlns:p14="http://schemas.microsoft.com/office/powerpoint/2010/main" val="1241639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4C955C-6AAF-E889-21F1-1455D80A2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Mock Level Reconstruction (L1 / L2 → L0)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CB855C-A202-42F6-A579-73027E0AA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Why reconstruct L1/L2 → L0</a:t>
            </a:r>
          </a:p>
          <a:p>
            <a:pPr lvl="1"/>
            <a:r>
              <a:rPr lang="en-US" altLang="zh-CN" dirty="0"/>
              <a:t>Directly comparing L0 and L1/L2 is </a:t>
            </a:r>
            <a:r>
              <a:rPr lang="en-US" altLang="zh-CN" b="1" dirty="0"/>
              <a:t>unfair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en-US" altLang="zh-CN" dirty="0"/>
              <a:t>one L0 mock belongs to </a:t>
            </a:r>
            <a:r>
              <a:rPr lang="en-US" altLang="zh-CN" b="1" dirty="0"/>
              <a:t>one test</a:t>
            </a:r>
            <a:r>
              <a:rPr lang="en-US" altLang="zh-CN" dirty="0"/>
              <a:t>, but one L1/L2 mock is </a:t>
            </a:r>
            <a:r>
              <a:rPr lang="en-US" altLang="zh-CN" b="1" dirty="0"/>
              <a:t>shared across many tests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So we </a:t>
            </a:r>
            <a:r>
              <a:rPr lang="en-US" altLang="zh-CN" b="1" dirty="0"/>
              <a:t>reconstruct</a:t>
            </a:r>
            <a:r>
              <a:rPr lang="en-US" altLang="zh-CN" dirty="0"/>
              <a:t> shared mocks into independent ones to make comparison </a:t>
            </a:r>
            <a:r>
              <a:rPr lang="en-US" altLang="zh-CN" b="1" dirty="0"/>
              <a:t>unit-consistent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66327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43D37E-5CBB-FB30-9DF3-42888A73F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Mock Level Reconstruction (L1 / L2 → L0)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603156-414F-2D60-0C0E-F2C66D94B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How We Reconstruct L1/L2 → L0</a:t>
            </a:r>
          </a:p>
          <a:p>
            <a:pPr lvl="1"/>
            <a:r>
              <a:rPr lang="en-US" altLang="zh-CN" b="1" dirty="0"/>
              <a:t>Recover</a:t>
            </a:r>
            <a:r>
              <a:rPr lang="en-US" altLang="zh-CN" dirty="0"/>
              <a:t> by merging shared and test-specific stubs within each </a:t>
            </a:r>
            <a:r>
              <a:rPr lang="en-US" altLang="zh-CN" b="1" dirty="0"/>
              <a:t>Test-Specific Mock Sequence (TMS)</a:t>
            </a:r>
            <a:r>
              <a:rPr lang="en-US" altLang="zh-CN" dirty="0"/>
              <a:t>.</a:t>
            </a:r>
          </a:p>
          <a:p>
            <a:pPr lvl="1"/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8D532C6-C37B-87CF-AAB3-57217242AE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7" t="5065" r="5786" b="6375"/>
          <a:stretch>
            <a:fillRect/>
          </a:stretch>
        </p:blipFill>
        <p:spPr>
          <a:xfrm>
            <a:off x="1936865" y="3485864"/>
            <a:ext cx="3174489" cy="217985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77AF40C-2215-30AF-1BB3-B60D80ED0FA0}"/>
              </a:ext>
            </a:extLst>
          </p:cNvPr>
          <p:cNvSpPr/>
          <p:nvPr/>
        </p:nvSpPr>
        <p:spPr>
          <a:xfrm>
            <a:off x="1895252" y="3174291"/>
            <a:ext cx="8162536" cy="305147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zh-CN" sz="1400" b="1" dirty="0"/>
              <a:t>Recover Test-Specific Mock Sequence per test case</a:t>
            </a:r>
            <a:endParaRPr lang="en-US" altLang="zh-CN" sz="14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5337463-DDCB-2B4D-4E81-C9869308E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124" y="4001294"/>
            <a:ext cx="3388767" cy="754907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37A92644-0DA5-7A5F-BFD2-D78F763D4144}"/>
              </a:ext>
            </a:extLst>
          </p:cNvPr>
          <p:cNvCxnSpPr>
            <a:cxnSpLocks/>
            <a:stCxn id="13" idx="3"/>
            <a:endCxn id="8" idx="1"/>
          </p:cNvCxnSpPr>
          <p:nvPr/>
        </p:nvCxnSpPr>
        <p:spPr>
          <a:xfrm>
            <a:off x="5008976" y="3885451"/>
            <a:ext cx="1237148" cy="493297"/>
          </a:xfrm>
          <a:prstGeom prst="straightConnector1">
            <a:avLst/>
          </a:prstGeom>
          <a:ln w="635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5B700F5-2566-02CE-8C77-F8352ECDD433}"/>
              </a:ext>
            </a:extLst>
          </p:cNvPr>
          <p:cNvCxnSpPr>
            <a:cxnSpLocks/>
            <a:stCxn id="14" idx="3"/>
            <a:endCxn id="8" idx="1"/>
          </p:cNvCxnSpPr>
          <p:nvPr/>
        </p:nvCxnSpPr>
        <p:spPr>
          <a:xfrm>
            <a:off x="5021554" y="4045126"/>
            <a:ext cx="1224570" cy="333622"/>
          </a:xfrm>
          <a:prstGeom prst="straightConnector1">
            <a:avLst/>
          </a:prstGeom>
          <a:ln w="635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85F56ADC-E056-4E83-2624-426F77BFBE88}"/>
              </a:ext>
            </a:extLst>
          </p:cNvPr>
          <p:cNvCxnSpPr>
            <a:cxnSpLocks/>
            <a:stCxn id="15" idx="3"/>
            <a:endCxn id="8" idx="1"/>
          </p:cNvCxnSpPr>
          <p:nvPr/>
        </p:nvCxnSpPr>
        <p:spPr>
          <a:xfrm flipV="1">
            <a:off x="5021554" y="4378748"/>
            <a:ext cx="1224570" cy="231390"/>
          </a:xfrm>
          <a:prstGeom prst="straightConnector1">
            <a:avLst/>
          </a:prstGeom>
          <a:ln w="635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D5F69232-B864-35B7-45DE-5753FF834B62}"/>
              </a:ext>
            </a:extLst>
          </p:cNvPr>
          <p:cNvSpPr/>
          <p:nvPr/>
        </p:nvSpPr>
        <p:spPr>
          <a:xfrm>
            <a:off x="2444466" y="3808347"/>
            <a:ext cx="2564510" cy="154207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2DA9E9F-729E-6A1F-D0E4-854AD9AC8425}"/>
              </a:ext>
            </a:extLst>
          </p:cNvPr>
          <p:cNvSpPr/>
          <p:nvPr/>
        </p:nvSpPr>
        <p:spPr>
          <a:xfrm>
            <a:off x="2457044" y="3948912"/>
            <a:ext cx="2564510" cy="192427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0108551-0A03-5937-75B4-E1F4F285E554}"/>
              </a:ext>
            </a:extLst>
          </p:cNvPr>
          <p:cNvSpPr/>
          <p:nvPr/>
        </p:nvSpPr>
        <p:spPr>
          <a:xfrm>
            <a:off x="2412838" y="4495045"/>
            <a:ext cx="2608716" cy="230185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722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B4F697-B572-F5F2-1ABB-9D5C92BAB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73" y="22888"/>
            <a:ext cx="10515600" cy="1325563"/>
          </a:xfrm>
        </p:spPr>
        <p:txBody>
          <a:bodyPr/>
          <a:lstStyle/>
          <a:p>
            <a:r>
              <a:rPr lang="en-US" altLang="zh-CN" dirty="0"/>
              <a:t>Mock Level Reconstruction (L0 → L1 / L2 )</a:t>
            </a:r>
            <a:endParaRPr lang="zh-CN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7DC67EA-9647-FA85-DC05-833533FF7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326" y="1736662"/>
            <a:ext cx="4483005" cy="181588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public void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Arial Unicode MS"/>
                <a:ea typeface="JetBrains Mono"/>
              </a:rPr>
              <a:t>test1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() {</a:t>
            </a:r>
            <a:b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URL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url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=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mock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URL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.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class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);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Invoke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newinvoke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new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Invoke(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url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);</a:t>
            </a:r>
            <a:b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when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url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.getServiceKey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()).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thenReturn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"Test"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);</a:t>
            </a:r>
            <a:r>
              <a:rPr lang="en-US" altLang="en-US" sz="1400" dirty="0">
                <a:solidFill>
                  <a:srgbClr val="080808"/>
                </a:solidFill>
                <a:highlight>
                  <a:srgbClr val="00FF00"/>
                </a:highlight>
                <a:latin typeface="Arial Unicode MS"/>
                <a:ea typeface="JetBrains Mono"/>
              </a:rPr>
              <a:t> 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when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url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.getParameter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(</a:t>
            </a:r>
            <a:r>
              <a:rPr lang="en-US" altLang="en-US" sz="1400" dirty="0">
                <a:solidFill>
                  <a:srgbClr val="080808"/>
                </a:solidFill>
                <a:highlight>
                  <a:srgbClr val="00FF00"/>
                </a:highlight>
                <a:latin typeface="Arial Unicode MS"/>
                <a:ea typeface="JetBrains Mono"/>
              </a:rPr>
              <a:t>any())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)).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thenReturn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"1"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);</a:t>
            </a:r>
            <a:endParaRPr lang="en-US" altLang="en-US" sz="1400" i="1" dirty="0">
              <a:solidFill>
                <a:srgbClr val="8C8C8C"/>
              </a:solidFill>
              <a:highlight>
                <a:srgbClr val="00FF00"/>
              </a:highlight>
              <a:latin typeface="Arial Unicode MS"/>
              <a:ea typeface="JetBrains Mon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String path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invoke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.getPath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lang="en-US" altLang="en-US" sz="1400" dirty="0" err="1">
                <a:solidFill>
                  <a:srgbClr val="871094"/>
                </a:solidFill>
                <a:latin typeface="Arial Unicode MS"/>
                <a:ea typeface="JetBrains Mono"/>
              </a:rPr>
              <a:t>originUrl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4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assertNotNull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path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2AAB6CB-4F78-3255-FFD9-C9DF70DBC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326" y="4004669"/>
            <a:ext cx="4726983" cy="224676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public void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Arial Unicode MS"/>
                <a:ea typeface="JetBrains Mono"/>
              </a:rPr>
              <a:t>test2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originUrl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=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mock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URL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.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class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);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rgbClr val="080808"/>
                </a:solidFill>
                <a:latin typeface="Arial Unicode MS"/>
                <a:ea typeface="JetBrains Mono"/>
              </a:rPr>
              <a:t>    String parameter =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testParameter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 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rgbClr val="080808"/>
                </a:solidFill>
                <a:latin typeface="Arial Unicode MS"/>
                <a:ea typeface="JetBrains Mono"/>
              </a:rPr>
              <a:t>   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when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originUrl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.getParameter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(</a:t>
            </a:r>
            <a:r>
              <a:rPr lang="en-US" altLang="en-US" sz="1400" dirty="0">
                <a:solidFill>
                  <a:srgbClr val="080808"/>
                </a:solidFill>
                <a:highlight>
                  <a:srgbClr val="00FF00"/>
                </a:highlight>
                <a:latin typeface="Arial Unicode MS"/>
                <a:ea typeface="JetBrains Mono"/>
              </a:rPr>
              <a:t>any())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))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rgbClr val="080808"/>
                </a:solidFill>
                <a:highlight>
                  <a:srgbClr val="00FF00"/>
                </a:highlight>
                <a:latin typeface="Arial Unicode MS"/>
                <a:ea typeface="JetBrains Mono"/>
              </a:rPr>
              <a:t>	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.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thenReturn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"1"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);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Invoke invoke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new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Invoke(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originUrl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String key 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 "key1"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    </a:t>
            </a:r>
            <a:endParaRPr lang="en-US" altLang="en-US" sz="1400" i="1" dirty="0">
              <a:solidFill>
                <a:srgbClr val="8C8C8C"/>
              </a:solidFill>
              <a:latin typeface="Arial Unicode MS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when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originUrl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.getServiceKey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()).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thenReturn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“Test"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);     </a:t>
            </a:r>
            <a:b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invoke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.verifyServiceKey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();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verify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originUrl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).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getServiceKey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();}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6E7CF98-BC7A-9741-0AD8-BB57BFA56DD5}"/>
              </a:ext>
            </a:extLst>
          </p:cNvPr>
          <p:cNvSpPr/>
          <p:nvPr/>
        </p:nvSpPr>
        <p:spPr>
          <a:xfrm>
            <a:off x="631655" y="1996633"/>
            <a:ext cx="2261464" cy="22774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FBC903E-D918-2C81-DA2E-D80F17903B93}"/>
              </a:ext>
            </a:extLst>
          </p:cNvPr>
          <p:cNvSpPr/>
          <p:nvPr/>
        </p:nvSpPr>
        <p:spPr>
          <a:xfrm>
            <a:off x="631655" y="2432329"/>
            <a:ext cx="3636608" cy="22774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31605BE-F0E8-9A18-5F9E-49A544BEBE45}"/>
              </a:ext>
            </a:extLst>
          </p:cNvPr>
          <p:cNvSpPr/>
          <p:nvPr/>
        </p:nvSpPr>
        <p:spPr>
          <a:xfrm>
            <a:off x="631655" y="2660073"/>
            <a:ext cx="3785464" cy="22774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0BE64C5F-07D0-6D62-BFE0-D1C4B1EF6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2382" y="1151887"/>
            <a:ext cx="4483006" cy="1600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URL </a:t>
            </a:r>
            <a:r>
              <a:rPr lang="en-US" altLang="en-US" sz="1400" dirty="0" err="1">
                <a:solidFill>
                  <a:srgbClr val="871094"/>
                </a:solidFill>
                <a:latin typeface="Arial Unicode MS"/>
                <a:ea typeface="JetBrains Mono"/>
              </a:rPr>
              <a:t>originUrl</a:t>
            </a:r>
            <a:r>
              <a:rPr lang="en-US" altLang="en-US" sz="1400" dirty="0">
                <a:solidFill>
                  <a:srgbClr val="871094"/>
                </a:solidFill>
                <a:latin typeface="Arial Unicode MS"/>
                <a:ea typeface="JetBrains Mono"/>
              </a:rPr>
              <a:t>;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@BeforeaEach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void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Arial Unicode MS"/>
                <a:ea typeface="JetBrains Mono"/>
              </a:rPr>
              <a:t>setup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(){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lang="en-US" altLang="en-US" sz="1400" dirty="0" err="1">
                <a:solidFill>
                  <a:srgbClr val="871094"/>
                </a:solidFill>
                <a:latin typeface="Arial Unicode MS"/>
                <a:ea typeface="JetBrains Mono"/>
              </a:rPr>
              <a:t>originUrl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mock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URL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class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when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url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.getServiceKey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()).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thenReturn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lang="en-US" altLang="en-US" sz="1400" dirty="0">
                <a:solidFill>
                  <a:srgbClr val="067D17"/>
                </a:solidFill>
                <a:latin typeface="Arial Unicode MS"/>
                <a:ea typeface="JetBrains Mono"/>
              </a:rPr>
              <a:t>"Test"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when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url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.getParameter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any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())).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thenReturn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lang="en-US" altLang="en-US" sz="1400" dirty="0">
                <a:solidFill>
                  <a:srgbClr val="067D17"/>
                </a:solidFill>
                <a:latin typeface="Arial Unicode MS"/>
                <a:ea typeface="JetBrains Mono"/>
              </a:rPr>
              <a:t>“1"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BC53F0C-6AD6-5B83-16E8-7B13F6D52D5C}"/>
              </a:ext>
            </a:extLst>
          </p:cNvPr>
          <p:cNvSpPr/>
          <p:nvPr/>
        </p:nvSpPr>
        <p:spPr>
          <a:xfrm>
            <a:off x="631655" y="4283350"/>
            <a:ext cx="2261464" cy="22774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8C32715-27F9-46B4-520D-84324F63F0C6}"/>
              </a:ext>
            </a:extLst>
          </p:cNvPr>
          <p:cNvSpPr/>
          <p:nvPr/>
        </p:nvSpPr>
        <p:spPr>
          <a:xfrm>
            <a:off x="631655" y="4697166"/>
            <a:ext cx="2906505" cy="48190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8BBFE4D-BBFB-B5E3-49FA-02CF1438E397}"/>
              </a:ext>
            </a:extLst>
          </p:cNvPr>
          <p:cNvSpPr/>
          <p:nvPr/>
        </p:nvSpPr>
        <p:spPr>
          <a:xfrm>
            <a:off x="631655" y="5537839"/>
            <a:ext cx="4126014" cy="22774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9E1A4B34-6747-95C3-3197-9EC5D57BE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9268" y="3143666"/>
            <a:ext cx="4496120" cy="954107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public void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Arial Unicode MS"/>
                <a:ea typeface="JetBrains Mono"/>
              </a:rPr>
              <a:t>test1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() {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String path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invoke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.getPath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lang="en-US" altLang="en-US" sz="1400" dirty="0" err="1">
                <a:solidFill>
                  <a:srgbClr val="871094"/>
                </a:solidFill>
                <a:latin typeface="Arial Unicode MS"/>
                <a:ea typeface="JetBrains Mono"/>
              </a:rPr>
              <a:t>originUrl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4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assertNotNull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path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FC07730-54D1-D7A9-7AA6-F67BA729E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9268" y="4829592"/>
            <a:ext cx="4483005" cy="116955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public void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Arial Unicode MS"/>
                <a:ea typeface="JetBrains Mono"/>
              </a:rPr>
              <a:t>test2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() {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Invoke invoke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new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Invoke(</a:t>
            </a:r>
            <a:r>
              <a:rPr lang="en-US" altLang="en-US" sz="1400" dirty="0" err="1">
                <a:solidFill>
                  <a:srgbClr val="871094"/>
                </a:solidFill>
                <a:latin typeface="Arial Unicode MS"/>
                <a:ea typeface="JetBrains Mono"/>
              </a:rPr>
              <a:t>originUrl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invoke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.verifyServiceKey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();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verify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lang="en-US" altLang="en-US" sz="1400" dirty="0" err="1">
                <a:solidFill>
                  <a:srgbClr val="871094"/>
                </a:solidFill>
                <a:latin typeface="Arial Unicode MS"/>
                <a:ea typeface="JetBrains Mono"/>
              </a:rPr>
              <a:t>originUrl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).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getServiceKey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();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B3788F0-BE77-D5F6-C249-416AF52D2BF3}"/>
              </a:ext>
            </a:extLst>
          </p:cNvPr>
          <p:cNvSpPr/>
          <p:nvPr/>
        </p:nvSpPr>
        <p:spPr>
          <a:xfrm>
            <a:off x="7118841" y="1825504"/>
            <a:ext cx="2261464" cy="22774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76DF59A-FBAC-15D9-4EB0-B2B58258EBDA}"/>
              </a:ext>
            </a:extLst>
          </p:cNvPr>
          <p:cNvSpPr/>
          <p:nvPr/>
        </p:nvSpPr>
        <p:spPr>
          <a:xfrm>
            <a:off x="7118841" y="2091770"/>
            <a:ext cx="3891920" cy="19375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6D1385B-56C0-2D67-2461-04EFCA51FE33}"/>
              </a:ext>
            </a:extLst>
          </p:cNvPr>
          <p:cNvSpPr/>
          <p:nvPr/>
        </p:nvSpPr>
        <p:spPr>
          <a:xfrm>
            <a:off x="7118841" y="2281928"/>
            <a:ext cx="4192383" cy="231589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D0389E0-9C5A-F5C5-150B-85E24CD91D7C}"/>
              </a:ext>
            </a:extLst>
          </p:cNvPr>
          <p:cNvSpPr txBox="1"/>
          <p:nvPr/>
        </p:nvSpPr>
        <p:spPr>
          <a:xfrm>
            <a:off x="5306505" y="2943219"/>
            <a:ext cx="14413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</a:rPr>
              <a:t>Refactoring</a:t>
            </a:r>
            <a:endParaRPr lang="en-US" altLang="zh-CN" dirty="0"/>
          </a:p>
        </p:txBody>
      </p: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34095E1D-D940-E3A8-0D26-2D5B12F5627A}"/>
              </a:ext>
            </a:extLst>
          </p:cNvPr>
          <p:cNvCxnSpPr>
            <a:stCxn id="4" idx="3"/>
            <a:endCxn id="13" idx="1"/>
          </p:cNvCxnSpPr>
          <p:nvPr/>
        </p:nvCxnSpPr>
        <p:spPr>
          <a:xfrm>
            <a:off x="4835331" y="2644603"/>
            <a:ext cx="2023937" cy="976117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52EB15D6-5B52-B2AC-5644-9BEE0B26C7C5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>
            <a:off x="5079309" y="5128054"/>
            <a:ext cx="1779959" cy="286314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0BD758A3-5B3F-A398-5629-B7D629D23A71}"/>
              </a:ext>
            </a:extLst>
          </p:cNvPr>
          <p:cNvSpPr txBox="1"/>
          <p:nvPr/>
        </p:nvSpPr>
        <p:spPr>
          <a:xfrm>
            <a:off x="5325222" y="4721870"/>
            <a:ext cx="15340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</a:rPr>
              <a:t>Refactoring</a:t>
            </a:r>
            <a:endParaRPr lang="en-US" altLang="zh-CN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3B57E20-E9AB-6E4A-C01A-441F8D368896}"/>
              </a:ext>
            </a:extLst>
          </p:cNvPr>
          <p:cNvSpPr txBox="1"/>
          <p:nvPr/>
        </p:nvSpPr>
        <p:spPr>
          <a:xfrm>
            <a:off x="1587410" y="6200487"/>
            <a:ext cx="15766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latin typeface="Saira Condensed Condensed SemiBold"/>
              </a:rPr>
              <a:t>level 0 </a:t>
            </a:r>
            <a:endParaRPr lang="zh-CN" altLang="en-US" sz="32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97909CA-00FD-2930-DDD8-B7BD555AB934}"/>
              </a:ext>
            </a:extLst>
          </p:cNvPr>
          <p:cNvSpPr txBox="1"/>
          <p:nvPr/>
        </p:nvSpPr>
        <p:spPr>
          <a:xfrm>
            <a:off x="8524128" y="6151638"/>
            <a:ext cx="19583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latin typeface="Saira Condensed Condensed SemiBold"/>
              </a:rPr>
              <a:t>level 1/2 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62971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5" grpId="0" animBg="1"/>
      <p:bldP spid="15" grpId="1" animBg="1"/>
      <p:bldP spid="18" grpId="0" animBg="1"/>
      <p:bldP spid="18" grpId="1" animBg="1"/>
      <p:bldP spid="21" grpId="0" animBg="1"/>
      <p:bldP spid="21" grpId="1" animBg="1"/>
      <p:bldP spid="24" grpId="0"/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0267BF-1F6C-6265-2A43-219907C9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RQ1 —</a:t>
            </a:r>
            <a:r>
              <a:rPr lang="zh-CN" altLang="en-US" dirty="0"/>
              <a:t> </a:t>
            </a:r>
            <a:r>
              <a:rPr lang="en-US" altLang="zh-CN" dirty="0"/>
              <a:t>Distribution of Projects at Level 0</a:t>
            </a:r>
            <a:endParaRPr lang="zh-CN" altLang="en-US" dirty="0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4" name="图表 3">
                <a:extLst>
                  <a:ext uri="{FF2B5EF4-FFF2-40B4-BE49-F238E27FC236}">
                    <a16:creationId xmlns:a16="http://schemas.microsoft.com/office/drawing/2014/main" id="{C8CA541D-3262-8FD5-4FB7-B756797F2FE8}"/>
                  </a:ext>
                </a:extLst>
              </p:cNvPr>
              <p:cNvGraphicFramePr/>
              <p:nvPr/>
            </p:nvGraphicFramePr>
            <p:xfrm>
              <a:off x="1810412" y="1633165"/>
              <a:ext cx="7625136" cy="4436331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4" name="图表 3">
                <a:extLst>
                  <a:ext uri="{FF2B5EF4-FFF2-40B4-BE49-F238E27FC236}">
                    <a16:creationId xmlns:a16="http://schemas.microsoft.com/office/drawing/2014/main" id="{C8CA541D-3262-8FD5-4FB7-B756797F2FE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10412" y="1633165"/>
                <a:ext cx="7625136" cy="443633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0913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80D71F-0DF4-A33A-1C72-F1B847EEA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Distribution of Mocks by Stub Count</a:t>
            </a:r>
            <a:endParaRPr lang="zh-CN" altLang="en-US" dirty="0"/>
          </a:p>
        </p:txBody>
      </p:sp>
      <p:pic>
        <p:nvPicPr>
          <p:cNvPr id="5" name="内容占位符 4" descr="图表, 条形图&#10;&#10;AI 生成的内容可能不正确。">
            <a:extLst>
              <a:ext uri="{FF2B5EF4-FFF2-40B4-BE49-F238E27FC236}">
                <a16:creationId xmlns:a16="http://schemas.microsoft.com/office/drawing/2014/main" id="{1E46789F-EEF6-6FFD-2EDA-CB6307DE7C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929" y="1825625"/>
            <a:ext cx="6962141" cy="4351338"/>
          </a:xfrm>
        </p:spPr>
      </p:pic>
    </p:spTree>
    <p:extLst>
      <p:ext uri="{BB962C8B-B14F-4D97-AF65-F5344CB8AC3E}">
        <p14:creationId xmlns:p14="http://schemas.microsoft.com/office/powerpoint/2010/main" val="3499041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60E185-E3C7-FD4C-E369-DA9863804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022" y="2902916"/>
            <a:ext cx="10710619" cy="1325563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RQ3:</a:t>
            </a:r>
            <a:r>
              <a:rPr lang="en-US" altLang="zh-CN" dirty="0"/>
              <a:t> How do different mock pattern levels correlate with the CCTR(complexity of test cases)?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4150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589673-330C-5D4B-DBB2-E7DFDDDFF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CCTR_Level_Summary</a:t>
            </a:r>
            <a:endParaRPr lang="zh-CN" alt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40DECAFA-8545-E365-566E-D09B60ACBC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2617775"/>
              </p:ext>
            </p:extLst>
          </p:nvPr>
        </p:nvGraphicFramePr>
        <p:xfrm>
          <a:off x="1344734" y="2722880"/>
          <a:ext cx="9191966" cy="1666240"/>
        </p:xfrm>
        <a:graphic>
          <a:graphicData uri="http://schemas.openxmlformats.org/drawingml/2006/table">
            <a:tbl>
              <a:tblPr/>
              <a:tblGrid>
                <a:gridCol w="901489">
                  <a:extLst>
                    <a:ext uri="{9D8B030D-6E8A-4147-A177-3AD203B41FA5}">
                      <a16:colId xmlns:a16="http://schemas.microsoft.com/office/drawing/2014/main" val="2495236472"/>
                    </a:ext>
                  </a:extLst>
                </a:gridCol>
                <a:gridCol w="1497115">
                  <a:extLst>
                    <a:ext uri="{9D8B030D-6E8A-4147-A177-3AD203B41FA5}">
                      <a16:colId xmlns:a16="http://schemas.microsoft.com/office/drawing/2014/main" val="2054396334"/>
                    </a:ext>
                  </a:extLst>
                </a:gridCol>
                <a:gridCol w="1255645">
                  <a:extLst>
                    <a:ext uri="{9D8B030D-6E8A-4147-A177-3AD203B41FA5}">
                      <a16:colId xmlns:a16="http://schemas.microsoft.com/office/drawing/2014/main" val="202770453"/>
                    </a:ext>
                  </a:extLst>
                </a:gridCol>
                <a:gridCol w="1400527">
                  <a:extLst>
                    <a:ext uri="{9D8B030D-6E8A-4147-A177-3AD203B41FA5}">
                      <a16:colId xmlns:a16="http://schemas.microsoft.com/office/drawing/2014/main" val="2814037736"/>
                    </a:ext>
                  </a:extLst>
                </a:gridCol>
                <a:gridCol w="2012252">
                  <a:extLst>
                    <a:ext uri="{9D8B030D-6E8A-4147-A177-3AD203B41FA5}">
                      <a16:colId xmlns:a16="http://schemas.microsoft.com/office/drawing/2014/main" val="1158512366"/>
                    </a:ext>
                  </a:extLst>
                </a:gridCol>
                <a:gridCol w="2124938">
                  <a:extLst>
                    <a:ext uri="{9D8B030D-6E8A-4147-A177-3AD203B41FA5}">
                      <a16:colId xmlns:a16="http://schemas.microsoft.com/office/drawing/2014/main" val="3357696075"/>
                    </a:ext>
                  </a:extLst>
                </a:gridCol>
              </a:tblGrid>
              <a:tr h="4165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MockLevel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MockObjectCount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TotalTestCount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AvgTestPerMock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dirty="0"/>
                        <a:t>CCTR Impact per Test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CCTR Impact per Test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Suit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+mn-ea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3403431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43048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43048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1.00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4.58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4.58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0844746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9718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24885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2.56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1.73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4.30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2483025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6681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32004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4.79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3.85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16.39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81170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5782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5F220E-75F3-01BC-42EB-2E2C46893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CCTR_Conversion_Group_Summary</a:t>
            </a:r>
            <a:endParaRPr lang="zh-CN" altLang="en-US" dirty="0"/>
          </a:p>
        </p:txBody>
      </p:sp>
      <p:graphicFrame>
        <p:nvGraphicFramePr>
          <p:cNvPr id="8" name="内容占位符 7">
            <a:extLst>
              <a:ext uri="{FF2B5EF4-FFF2-40B4-BE49-F238E27FC236}">
                <a16:creationId xmlns:a16="http://schemas.microsoft.com/office/drawing/2014/main" id="{310AFBF0-10DD-1D70-713A-75D4267369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8765164"/>
              </p:ext>
            </p:extLst>
          </p:nvPr>
        </p:nvGraphicFramePr>
        <p:xfrm>
          <a:off x="521580" y="2894341"/>
          <a:ext cx="11161639" cy="1325563"/>
        </p:xfrm>
        <a:graphic>
          <a:graphicData uri="http://schemas.openxmlformats.org/drawingml/2006/table">
            <a:tbl>
              <a:tblPr/>
              <a:tblGrid>
                <a:gridCol w="1148374">
                  <a:extLst>
                    <a:ext uri="{9D8B030D-6E8A-4147-A177-3AD203B41FA5}">
                      <a16:colId xmlns:a16="http://schemas.microsoft.com/office/drawing/2014/main" val="807660831"/>
                    </a:ext>
                  </a:extLst>
                </a:gridCol>
                <a:gridCol w="952310">
                  <a:extLst>
                    <a:ext uri="{9D8B030D-6E8A-4147-A177-3AD203B41FA5}">
                      <a16:colId xmlns:a16="http://schemas.microsoft.com/office/drawing/2014/main" val="2197310180"/>
                    </a:ext>
                  </a:extLst>
                </a:gridCol>
                <a:gridCol w="1260411">
                  <a:extLst>
                    <a:ext uri="{9D8B030D-6E8A-4147-A177-3AD203B41FA5}">
                      <a16:colId xmlns:a16="http://schemas.microsoft.com/office/drawing/2014/main" val="4152862539"/>
                    </a:ext>
                  </a:extLst>
                </a:gridCol>
                <a:gridCol w="1302425">
                  <a:extLst>
                    <a:ext uri="{9D8B030D-6E8A-4147-A177-3AD203B41FA5}">
                      <a16:colId xmlns:a16="http://schemas.microsoft.com/office/drawing/2014/main" val="46708841"/>
                    </a:ext>
                  </a:extLst>
                </a:gridCol>
                <a:gridCol w="1204393">
                  <a:extLst>
                    <a:ext uri="{9D8B030D-6E8A-4147-A177-3AD203B41FA5}">
                      <a16:colId xmlns:a16="http://schemas.microsoft.com/office/drawing/2014/main" val="2128697465"/>
                    </a:ext>
                  </a:extLst>
                </a:gridCol>
                <a:gridCol w="1204393">
                  <a:extLst>
                    <a:ext uri="{9D8B030D-6E8A-4147-A177-3AD203B41FA5}">
                      <a16:colId xmlns:a16="http://schemas.microsoft.com/office/drawing/2014/main" val="1764786632"/>
                    </a:ext>
                  </a:extLst>
                </a:gridCol>
                <a:gridCol w="1092356">
                  <a:extLst>
                    <a:ext uri="{9D8B030D-6E8A-4147-A177-3AD203B41FA5}">
                      <a16:colId xmlns:a16="http://schemas.microsoft.com/office/drawing/2014/main" val="4103766414"/>
                    </a:ext>
                  </a:extLst>
                </a:gridCol>
                <a:gridCol w="1246406">
                  <a:extLst>
                    <a:ext uri="{9D8B030D-6E8A-4147-A177-3AD203B41FA5}">
                      <a16:colId xmlns:a16="http://schemas.microsoft.com/office/drawing/2014/main" val="2172485372"/>
                    </a:ext>
                  </a:extLst>
                </a:gridCol>
                <a:gridCol w="1750571">
                  <a:extLst>
                    <a:ext uri="{9D8B030D-6E8A-4147-A177-3AD203B41FA5}">
                      <a16:colId xmlns:a16="http://schemas.microsoft.com/office/drawing/2014/main" val="4053386477"/>
                    </a:ext>
                  </a:extLst>
                </a:gridCol>
              </a:tblGrid>
              <a:tr h="2690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ConvertedFrom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ConvertedTo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ConversionCount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TotalBeforeMocks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TotalAfterMocks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AvgBeforeCount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AvgAfterCount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AvgCCTRChange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AvgCCTRChangePerTest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6473173"/>
                  </a:ext>
                </a:extLst>
              </a:tr>
              <a:tr h="26246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5337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20405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5337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3.82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1.00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-8.88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-2.37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728948"/>
                  </a:ext>
                </a:extLst>
              </a:tr>
              <a:tr h="26246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2173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13794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2173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6.35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1.00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-18.61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-3.26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1828137"/>
                  </a:ext>
                </a:extLst>
              </a:tr>
              <a:tr h="26246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9718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9718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24885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2.56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3.54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1.07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107151"/>
                  </a:ext>
                </a:extLst>
              </a:tr>
              <a:tr h="26907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6681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6681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32004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4.79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84.22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6.41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71839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3870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577</Words>
  <Application>Microsoft Office PowerPoint</Application>
  <PresentationFormat>宽屏</PresentationFormat>
  <Paragraphs>113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 Unicode MS</vt:lpstr>
      <vt:lpstr>Saira Condensed Condensed SemiBold</vt:lpstr>
      <vt:lpstr>System Font Regular</vt:lpstr>
      <vt:lpstr>等线</vt:lpstr>
      <vt:lpstr>等线 Light</vt:lpstr>
      <vt:lpstr>Aptos Narrow</vt:lpstr>
      <vt:lpstr>Arial</vt:lpstr>
      <vt:lpstr>Office 主题​​</vt:lpstr>
      <vt:lpstr>Preliminary research questions</vt:lpstr>
      <vt:lpstr>Mock Level Reconstruction (L1 / L2 → L0)</vt:lpstr>
      <vt:lpstr>Mock Level Reconstruction (L1 / L2 → L0)</vt:lpstr>
      <vt:lpstr>Mock Level Reconstruction (L0 → L1 / L2 )</vt:lpstr>
      <vt:lpstr>RQ1 — Distribution of Projects at Level 0</vt:lpstr>
      <vt:lpstr>Distribution of Mocks by Stub Count</vt:lpstr>
      <vt:lpstr>RQ3: How do different mock pattern levels correlate with the CCTR(complexity of test cases)?</vt:lpstr>
      <vt:lpstr>CCTR_Level_Summary</vt:lpstr>
      <vt:lpstr>CCTR_Conversion_Group_Summary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Gengwu Zhao</dc:creator>
  <cp:lastModifiedBy>Gengwu Zhao</cp:lastModifiedBy>
  <cp:revision>1</cp:revision>
  <dcterms:created xsi:type="dcterms:W3CDTF">2025-11-06T15:00:03Z</dcterms:created>
  <dcterms:modified xsi:type="dcterms:W3CDTF">2025-11-06T17:03:06Z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73fd474-4f3c-44ed-88fb-5cc4bd2471bf_Enabled">
    <vt:lpwstr>true</vt:lpwstr>
  </property>
  <property fmtid="{D5CDD505-2E9C-101B-9397-08002B2CF9AE}" pid="3" name="MSIP_Label_a73fd474-4f3c-44ed-88fb-5cc4bd2471bf_SetDate">
    <vt:lpwstr>2025-11-06T17:02:54Z</vt:lpwstr>
  </property>
  <property fmtid="{D5CDD505-2E9C-101B-9397-08002B2CF9AE}" pid="4" name="MSIP_Label_a73fd474-4f3c-44ed-88fb-5cc4bd2471bf_Method">
    <vt:lpwstr>Standard</vt:lpwstr>
  </property>
  <property fmtid="{D5CDD505-2E9C-101B-9397-08002B2CF9AE}" pid="5" name="MSIP_Label_a73fd474-4f3c-44ed-88fb-5cc4bd2471bf_Name">
    <vt:lpwstr>defa4170-0d19-0005-0004-bc88714345d2</vt:lpwstr>
  </property>
  <property fmtid="{D5CDD505-2E9C-101B-9397-08002B2CF9AE}" pid="6" name="MSIP_Label_a73fd474-4f3c-44ed-88fb-5cc4bd2471bf_SiteId">
    <vt:lpwstr>8d1a69ec-03b5-4345-ae21-dad112f5fb4f</vt:lpwstr>
  </property>
  <property fmtid="{D5CDD505-2E9C-101B-9397-08002B2CF9AE}" pid="7" name="MSIP_Label_a73fd474-4f3c-44ed-88fb-5cc4bd2471bf_ActionId">
    <vt:lpwstr>9490f0e6-1de4-4e38-a3b4-c7e921a4fde9</vt:lpwstr>
  </property>
  <property fmtid="{D5CDD505-2E9C-101B-9397-08002B2CF9AE}" pid="8" name="MSIP_Label_a73fd474-4f3c-44ed-88fb-5cc4bd2471bf_ContentBits">
    <vt:lpwstr>0</vt:lpwstr>
  </property>
  <property fmtid="{D5CDD505-2E9C-101B-9397-08002B2CF9AE}" pid="9" name="MSIP_Label_a73fd474-4f3c-44ed-88fb-5cc4bd2471bf_Tag">
    <vt:lpwstr>10, 3, 0, 1</vt:lpwstr>
  </property>
</Properties>
</file>